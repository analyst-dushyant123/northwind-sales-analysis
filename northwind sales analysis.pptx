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eague Spartan" charset="1" panose="00000800000000000000"/>
      <p:regular r:id="rId22"/>
    </p:embeddedFont>
    <p:embeddedFont>
      <p:font typeface="Futura 1 Bold" charset="1" panose="020B0702020204020203"/>
      <p:regular r:id="rId23"/>
    </p:embeddedFont>
    <p:embeddedFont>
      <p:font typeface="Roboto" charset="1" panose="02000000000000000000"/>
      <p:regular r:id="rId24"/>
    </p:embeddedFont>
    <p:embeddedFont>
      <p:font typeface="Futura 2 Bold" charset="1" panose="020B0702020204020203"/>
      <p:regular r:id="rId25"/>
    </p:embeddedFont>
    <p:embeddedFont>
      <p:font typeface="Futura 2" charset="1" panose="020B0502020204020303"/>
      <p:regular r:id="rId26"/>
    </p:embeddedFont>
    <p:embeddedFont>
      <p:font typeface="Lancelot" charset="1" panose="02000000000000000000"/>
      <p:regular r:id="rId27"/>
    </p:embeddedFont>
    <p:embeddedFont>
      <p:font typeface="DM Sans Bold" charset="1" panose="00000000000000000000"/>
      <p:regular r:id="rId28"/>
    </p:embeddedFont>
    <p:embeddedFont>
      <p:font typeface="Futura 1 Ultra-Bold" charset="1" panose="020B0802020204020204"/>
      <p:regular r:id="rId29"/>
    </p:embeddedFont>
    <p:embeddedFont>
      <p:font typeface="Lora Bold" charset="1" panose="00000800000000000000"/>
      <p:regular r:id="rId30"/>
    </p:embeddedFont>
    <p:embeddedFont>
      <p:font typeface="Gagalin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1.jpeg" Type="http://schemas.openxmlformats.org/officeDocument/2006/relationships/image"/><Relationship Id="rId4" Target="../media/aAGmQLTaBSM.m4a" Type="http://schemas.microsoft.com/office/2007/relationships/media"/><Relationship Id="rId5" Target="../media/aAGmQLTaBSM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6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6151" y="3141343"/>
            <a:ext cx="12955698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76"/>
              </a:lnSpc>
            </a:pPr>
            <a:r>
              <a:rPr lang="en-US" sz="10480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NORTHWIND SALES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0681" y="6865056"/>
            <a:ext cx="3595274" cy="53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2343" spc="-46">
                <a:solidFill>
                  <a:srgbClr val="DDDDDD"/>
                </a:solidFill>
                <a:latin typeface="Futura 1 Bold"/>
                <a:ea typeface="Futura 1 Bold"/>
                <a:cs typeface="Futura 1 Bold"/>
                <a:sym typeface="Futura 1 Bold"/>
              </a:rPr>
              <a:t>By Dushyant Prajapati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53853" y="6303643"/>
            <a:ext cx="870893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DAX Power BI Portfolio Project</a:t>
            </a:r>
          </a:p>
        </p:txBody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6"/>
                </p:tgtEl>
              </p:cBhvr>
            </p:cmd>
            <p:audio>
              <p:cMediaNode vol="100000" showWhenStopped="false">
                <p:cTn/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0297" y="2811777"/>
            <a:ext cx="8427040" cy="5871333"/>
            <a:chOff x="0" y="0"/>
            <a:chExt cx="8795084" cy="6127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95084" cy="6127745"/>
            </a:xfrm>
            <a:custGeom>
              <a:avLst/>
              <a:gdLst/>
              <a:ahLst/>
              <a:cxnLst/>
              <a:rect r="r" b="b" t="t" l="l"/>
              <a:pathLst>
                <a:path h="6127745" w="8795084">
                  <a:moveTo>
                    <a:pt x="366260" y="0"/>
                  </a:moveTo>
                  <a:lnTo>
                    <a:pt x="8428824" y="0"/>
                  </a:lnTo>
                  <a:cubicBezTo>
                    <a:pt x="8631104" y="0"/>
                    <a:pt x="8795084" y="163980"/>
                    <a:pt x="8795084" y="366260"/>
                  </a:cubicBezTo>
                  <a:lnTo>
                    <a:pt x="8795084" y="5761485"/>
                  </a:lnTo>
                  <a:cubicBezTo>
                    <a:pt x="8795084" y="5963765"/>
                    <a:pt x="8631104" y="6127745"/>
                    <a:pt x="8428824" y="6127745"/>
                  </a:cubicBezTo>
                  <a:lnTo>
                    <a:pt x="366260" y="6127745"/>
                  </a:lnTo>
                  <a:cubicBezTo>
                    <a:pt x="163980" y="6127745"/>
                    <a:pt x="0" y="5963765"/>
                    <a:pt x="0" y="5761485"/>
                  </a:cubicBezTo>
                  <a:lnTo>
                    <a:pt x="0" y="366260"/>
                  </a:lnTo>
                  <a:cubicBezTo>
                    <a:pt x="0" y="163980"/>
                    <a:pt x="163980" y="0"/>
                    <a:pt x="366260" y="0"/>
                  </a:cubicBezTo>
                  <a:close/>
                </a:path>
              </a:pathLst>
            </a:custGeom>
            <a:blipFill>
              <a:blip r:embed="rId3"/>
              <a:stretch>
                <a:fillRect l="-976" t="0" r="-976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429750" y="2530627"/>
            <a:ext cx="7538826" cy="648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7311" indent="-258656" lvl="1">
              <a:lnSpc>
                <a:spcPts val="4312"/>
              </a:lnSpc>
              <a:buFont typeface="Arial"/>
              <a:buChar char="•"/>
            </a:pPr>
            <a:r>
              <a:rPr lang="en-US" b="true" sz="2396">
                <a:solidFill>
                  <a:srgbClr val="FFFFFF"/>
                </a:solidFill>
                <a:latin typeface="Futura 1 Bold"/>
                <a:ea typeface="Futura 1 Bold"/>
                <a:cs typeface="Futura 1 Bold"/>
                <a:sym typeface="Futura 1 Bold"/>
              </a:rPr>
              <a:t>Objective: Built a dynamic Sales Analytics Report to monitor key performance indicators (KPIs), customer insights, and demand forecasting.</a:t>
            </a:r>
          </a:p>
          <a:p>
            <a:pPr algn="l" marL="517311" indent="-258656" lvl="1">
              <a:lnSpc>
                <a:spcPts val="4312"/>
              </a:lnSpc>
              <a:buFont typeface="Arial"/>
              <a:buChar char="•"/>
            </a:pPr>
            <a:r>
              <a:rPr lang="en-US" b="true" sz="2396">
                <a:solidFill>
                  <a:srgbClr val="FFFFFF"/>
                </a:solidFill>
                <a:latin typeface="Futura 1 Bold"/>
                <a:ea typeface="Futura 1 Bold"/>
                <a:cs typeface="Futura 1 Bold"/>
                <a:sym typeface="Futura 1 Bold"/>
              </a:rPr>
              <a:t>Data Modeling: Implemented a Star Schema with proper relationships between Fact_Orders and Dimension tables (Customers, Products, Employees).</a:t>
            </a:r>
          </a:p>
          <a:p>
            <a:pPr algn="l" marL="517311" indent="-258656" lvl="1">
              <a:lnSpc>
                <a:spcPts val="4312"/>
              </a:lnSpc>
              <a:buFont typeface="Arial"/>
              <a:buChar char="•"/>
            </a:pPr>
            <a:r>
              <a:rPr lang="en-US" b="true" sz="2396">
                <a:solidFill>
                  <a:srgbClr val="FFFFFF"/>
                </a:solidFill>
                <a:latin typeface="Futura 1 Bold"/>
                <a:ea typeface="Futura 1 Bold"/>
                <a:cs typeface="Futura 1 Bold"/>
                <a:sym typeface="Futura 1 Bold"/>
              </a:rPr>
              <a:t>Advanced DAX: Solved real-world business problems using complex functions like CALCULATE, TOPN, RELATED, and SUMMARIZE.</a:t>
            </a:r>
          </a:p>
          <a:p>
            <a:pPr algn="l" marL="517311" indent="-258656" lvl="1">
              <a:lnSpc>
                <a:spcPts val="4312"/>
              </a:lnSpc>
              <a:buFont typeface="Arial"/>
              <a:buChar char="•"/>
            </a:pPr>
            <a:r>
              <a:rPr lang="en-US" b="true" sz="2396">
                <a:solidFill>
                  <a:srgbClr val="FFFFFF"/>
                </a:solidFill>
                <a:latin typeface="Futura 1 Bold"/>
                <a:ea typeface="Futura 1 Bold"/>
                <a:cs typeface="Futura 1 Bold"/>
                <a:sym typeface="Futura 1 Bold"/>
              </a:rPr>
              <a:t>Outcome: Extracted actionable insights for optimized decision-making and reporting.</a:t>
            </a:r>
          </a:p>
          <a:p>
            <a:pPr algn="l">
              <a:lnSpc>
                <a:spcPts val="389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38188"/>
            <a:ext cx="1451646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7"/>
              </a:lnSpc>
              <a:spcBef>
                <a:spcPct val="0"/>
              </a:spcBef>
            </a:pPr>
            <a:r>
              <a:rPr lang="en-US" sz="38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/ 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8208" y="1437185"/>
            <a:ext cx="594493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b="true" sz="2874">
                <a:solidFill>
                  <a:srgbClr val="FFFFFF"/>
                </a:solidFill>
                <a:latin typeface="Futura 2 Bold"/>
                <a:ea typeface="Futura 2 Bold"/>
                <a:cs typeface="Futura 2 Bold"/>
                <a:sym typeface="Futura 2 Bold"/>
              </a:rPr>
              <a:t>Developer</a:t>
            </a:r>
            <a:r>
              <a:rPr lang="en-US" sz="2874">
                <a:solidFill>
                  <a:srgbClr val="FFFFFF"/>
                </a:solidFill>
                <a:latin typeface="Futura 2"/>
                <a:ea typeface="Futura 2"/>
                <a:cs typeface="Futura 2"/>
                <a:sym typeface="Futura 2"/>
              </a:rPr>
              <a:t>: Dushyant Prajapati</a:t>
            </a:r>
          </a:p>
        </p:txBody>
      </p:sp>
    </p:spTree>
  </p:cSld>
  <p:clrMapOvr>
    <a:masterClrMapping/>
  </p:clrMapOvr>
  <p:transition spd="fast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A2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65418" y="2337516"/>
            <a:ext cx="5581721" cy="5611968"/>
          </a:xfrm>
          <a:custGeom>
            <a:avLst/>
            <a:gdLst/>
            <a:ahLst/>
            <a:cxnLst/>
            <a:rect r="r" b="b" t="t" l="l"/>
            <a:pathLst>
              <a:path h="5611968" w="5581721">
                <a:moveTo>
                  <a:pt x="0" y="0"/>
                </a:moveTo>
                <a:lnTo>
                  <a:pt x="5581720" y="0"/>
                </a:lnTo>
                <a:lnTo>
                  <a:pt x="5581720" y="5611968"/>
                </a:lnTo>
                <a:lnTo>
                  <a:pt x="0" y="5611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4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0604" y="2857500"/>
            <a:ext cx="5382550" cy="640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6168" indent="-573084" lvl="1">
              <a:lnSpc>
                <a:spcPts val="6370"/>
              </a:lnSpc>
              <a:buFont typeface="Arial"/>
              <a:buChar char="•"/>
            </a:pPr>
            <a:r>
              <a:rPr lang="en-US" sz="5308">
                <a:solidFill>
                  <a:srgbClr val="FFFFFF"/>
                </a:solidFill>
                <a:latin typeface="Lancelot"/>
                <a:ea typeface="Lancelot"/>
                <a:cs typeface="Lancelot"/>
                <a:sym typeface="Lancelot"/>
              </a:rPr>
              <a:t>Calendar</a:t>
            </a:r>
          </a:p>
          <a:p>
            <a:pPr algn="l" marL="1146168" indent="-573084" lvl="1">
              <a:lnSpc>
                <a:spcPts val="6370"/>
              </a:lnSpc>
              <a:buFont typeface="Arial"/>
              <a:buChar char="•"/>
            </a:pPr>
            <a:r>
              <a:rPr lang="en-US" sz="5308">
                <a:solidFill>
                  <a:srgbClr val="FFFFFF"/>
                </a:solidFill>
                <a:latin typeface="Lancelot"/>
                <a:ea typeface="Lancelot"/>
                <a:cs typeface="Lancelot"/>
                <a:sym typeface="Lancelot"/>
              </a:rPr>
              <a:t>Categories</a:t>
            </a:r>
          </a:p>
          <a:p>
            <a:pPr algn="l" marL="1146168" indent="-573084" lvl="1">
              <a:lnSpc>
                <a:spcPts val="6370"/>
              </a:lnSpc>
              <a:buFont typeface="Arial"/>
              <a:buChar char="•"/>
            </a:pPr>
            <a:r>
              <a:rPr lang="en-US" sz="5308">
                <a:solidFill>
                  <a:srgbClr val="FFFFFF"/>
                </a:solidFill>
                <a:latin typeface="Lancelot"/>
                <a:ea typeface="Lancelot"/>
                <a:cs typeface="Lancelot"/>
                <a:sym typeface="Lancelot"/>
              </a:rPr>
              <a:t>Customers</a:t>
            </a:r>
          </a:p>
          <a:p>
            <a:pPr algn="l" marL="1146168" indent="-573084" lvl="1">
              <a:lnSpc>
                <a:spcPts val="6370"/>
              </a:lnSpc>
              <a:buFont typeface="Arial"/>
              <a:buChar char="•"/>
            </a:pPr>
            <a:r>
              <a:rPr lang="en-US" sz="5308">
                <a:solidFill>
                  <a:srgbClr val="FFFFFF"/>
                </a:solidFill>
                <a:latin typeface="Lancelot"/>
                <a:ea typeface="Lancelot"/>
                <a:cs typeface="Lancelot"/>
                <a:sym typeface="Lancelot"/>
              </a:rPr>
              <a:t>Employees</a:t>
            </a:r>
          </a:p>
          <a:p>
            <a:pPr algn="l" marL="1146168" indent="-573084" lvl="1">
              <a:lnSpc>
                <a:spcPts val="6370"/>
              </a:lnSpc>
              <a:buFont typeface="Arial"/>
              <a:buChar char="•"/>
            </a:pPr>
            <a:r>
              <a:rPr lang="en-US" sz="5308">
                <a:solidFill>
                  <a:srgbClr val="FFFFFF"/>
                </a:solidFill>
                <a:latin typeface="Lancelot"/>
                <a:ea typeface="Lancelot"/>
                <a:cs typeface="Lancelot"/>
                <a:sym typeface="Lancelot"/>
              </a:rPr>
              <a:t>Products</a:t>
            </a:r>
          </a:p>
          <a:p>
            <a:pPr algn="l" marL="1146168" indent="-573084" lvl="1">
              <a:lnSpc>
                <a:spcPts val="6370"/>
              </a:lnSpc>
              <a:buFont typeface="Arial"/>
              <a:buChar char="•"/>
            </a:pPr>
            <a:r>
              <a:rPr lang="en-US" sz="5308">
                <a:solidFill>
                  <a:srgbClr val="FFFFFF"/>
                </a:solidFill>
                <a:latin typeface="Lancelot"/>
                <a:ea typeface="Lancelot"/>
                <a:cs typeface="Lancelot"/>
                <a:sym typeface="Lancelot"/>
              </a:rPr>
              <a:t>Suppliers</a:t>
            </a:r>
          </a:p>
          <a:p>
            <a:pPr algn="l">
              <a:lnSpc>
                <a:spcPts val="6370"/>
              </a:lnSpc>
            </a:pPr>
          </a:p>
          <a:p>
            <a:pPr algn="l">
              <a:lnSpc>
                <a:spcPts val="637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81598" y="621593"/>
            <a:ext cx="864815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6"/>
              </a:lnSpc>
              <a:spcBef>
                <a:spcPct val="0"/>
              </a:spcBef>
            </a:pPr>
            <a:r>
              <a:rPr lang="en-US" sz="49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DATABASE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1598" y="2185369"/>
            <a:ext cx="4940561" cy="67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1"/>
              </a:lnSpc>
              <a:spcBef>
                <a:spcPct val="0"/>
              </a:spcBef>
            </a:pPr>
            <a:r>
              <a:rPr lang="en-US" b="true" sz="4459">
                <a:solidFill>
                  <a:srgbClr val="FFDE59"/>
                </a:solidFill>
                <a:latin typeface="DM Sans Bold"/>
                <a:ea typeface="DM Sans Bold"/>
                <a:cs typeface="DM Sans Bold"/>
                <a:sym typeface="DM Sans Bold"/>
              </a:rPr>
              <a:t>Dimension Tables: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9048" y="2185369"/>
            <a:ext cx="2929070" cy="67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1"/>
              </a:lnSpc>
              <a:spcBef>
                <a:spcPct val="0"/>
              </a:spcBef>
            </a:pPr>
            <a:r>
              <a:rPr lang="en-US" b="true" sz="4459">
                <a:solidFill>
                  <a:srgbClr val="FFDE59"/>
                </a:solidFill>
                <a:latin typeface="DM Sans Bold"/>
                <a:ea typeface="DM Sans Bold"/>
                <a:cs typeface="DM Sans Bold"/>
                <a:sym typeface="DM Sans Bold"/>
              </a:rPr>
              <a:t>Fact Table: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05739" y="2857500"/>
            <a:ext cx="538255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6168" indent="-573084" lvl="1">
              <a:lnSpc>
                <a:spcPts val="6370"/>
              </a:lnSpc>
              <a:buFont typeface="Arial"/>
              <a:buChar char="•"/>
            </a:pPr>
            <a:r>
              <a:rPr lang="en-US" sz="5308">
                <a:solidFill>
                  <a:srgbClr val="FFFFFF"/>
                </a:solidFill>
                <a:latin typeface="Lancelot"/>
                <a:ea typeface="Lancelot"/>
                <a:cs typeface="Lancelot"/>
                <a:sym typeface="Lancelot"/>
              </a:rPr>
              <a:t>Orders</a:t>
            </a:r>
          </a:p>
          <a:p>
            <a:pPr algn="l">
              <a:lnSpc>
                <a:spcPts val="637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38982" y="6389709"/>
            <a:ext cx="5797957" cy="3176658"/>
          </a:xfrm>
          <a:custGeom>
            <a:avLst/>
            <a:gdLst/>
            <a:ahLst/>
            <a:cxnLst/>
            <a:rect r="r" b="b" t="t" l="l"/>
            <a:pathLst>
              <a:path h="3176658" w="5797957">
                <a:moveTo>
                  <a:pt x="0" y="0"/>
                </a:moveTo>
                <a:lnTo>
                  <a:pt x="5797957" y="0"/>
                </a:lnTo>
                <a:lnTo>
                  <a:pt x="5797957" y="3176658"/>
                </a:lnTo>
                <a:lnTo>
                  <a:pt x="0" y="3176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8154" y="2018303"/>
            <a:ext cx="11463343" cy="7548064"/>
          </a:xfrm>
          <a:custGeom>
            <a:avLst/>
            <a:gdLst/>
            <a:ahLst/>
            <a:cxnLst/>
            <a:rect r="r" b="b" t="t" l="l"/>
            <a:pathLst>
              <a:path h="7548064" w="11463343">
                <a:moveTo>
                  <a:pt x="0" y="0"/>
                </a:moveTo>
                <a:lnTo>
                  <a:pt x="11463343" y="0"/>
                </a:lnTo>
                <a:lnTo>
                  <a:pt x="11463343" y="7548064"/>
                </a:lnTo>
                <a:lnTo>
                  <a:pt x="0" y="754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03" r="0" b="-181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48385" y="1517472"/>
            <a:ext cx="4710915" cy="4114800"/>
          </a:xfrm>
          <a:custGeom>
            <a:avLst/>
            <a:gdLst/>
            <a:ahLst/>
            <a:cxnLst/>
            <a:rect r="r" b="b" t="t" l="l"/>
            <a:pathLst>
              <a:path h="4114800" w="4710915">
                <a:moveTo>
                  <a:pt x="0" y="0"/>
                </a:moveTo>
                <a:lnTo>
                  <a:pt x="4710915" y="0"/>
                </a:lnTo>
                <a:lnTo>
                  <a:pt x="4710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68154" y="1313453"/>
            <a:ext cx="1130585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878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Show all the orders of customer HANNA MOOS?</a:t>
            </a:r>
          </a:p>
          <a:p>
            <a:pPr algn="r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68154" y="519746"/>
            <a:ext cx="1342665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  <a:spcBef>
                <a:spcPct val="0"/>
              </a:spcBef>
            </a:pPr>
            <a:r>
              <a:rPr lang="en-US" sz="46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1 : Customer Orders</a:t>
            </a:r>
          </a:p>
        </p:txBody>
      </p:sp>
    </p:spTree>
  </p:cSld>
  <p:clrMapOvr>
    <a:masterClrMapping/>
  </p:clrMapOvr>
  <p:transition spd="fast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796" y="1657234"/>
            <a:ext cx="10990762" cy="7275182"/>
          </a:xfrm>
          <a:custGeom>
            <a:avLst/>
            <a:gdLst/>
            <a:ahLst/>
            <a:cxnLst/>
            <a:rect r="r" b="b" t="t" l="l"/>
            <a:pathLst>
              <a:path h="7275182" w="10990762">
                <a:moveTo>
                  <a:pt x="0" y="0"/>
                </a:moveTo>
                <a:lnTo>
                  <a:pt x="10990762" y="0"/>
                </a:lnTo>
                <a:lnTo>
                  <a:pt x="10990762" y="7275183"/>
                </a:lnTo>
                <a:lnTo>
                  <a:pt x="0" y="727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13" t="0" r="-42413" b="-642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28532" y="7192960"/>
            <a:ext cx="6605442" cy="1443625"/>
          </a:xfrm>
          <a:custGeom>
            <a:avLst/>
            <a:gdLst/>
            <a:ahLst/>
            <a:cxnLst/>
            <a:rect r="r" b="b" t="t" l="l"/>
            <a:pathLst>
              <a:path h="1443625" w="6605442">
                <a:moveTo>
                  <a:pt x="0" y="0"/>
                </a:moveTo>
                <a:lnTo>
                  <a:pt x="6605442" y="0"/>
                </a:lnTo>
                <a:lnTo>
                  <a:pt x="6605442" y="1443625"/>
                </a:lnTo>
                <a:lnTo>
                  <a:pt x="0" y="1443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89" t="0" r="-2289" b="-37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59067" y="1657234"/>
            <a:ext cx="4862149" cy="4376462"/>
          </a:xfrm>
          <a:custGeom>
            <a:avLst/>
            <a:gdLst/>
            <a:ahLst/>
            <a:cxnLst/>
            <a:rect r="r" b="b" t="t" l="l"/>
            <a:pathLst>
              <a:path h="4376462" w="4862149">
                <a:moveTo>
                  <a:pt x="0" y="0"/>
                </a:moveTo>
                <a:lnTo>
                  <a:pt x="4862149" y="0"/>
                </a:lnTo>
                <a:lnTo>
                  <a:pt x="4862149" y="4376462"/>
                </a:lnTo>
                <a:lnTo>
                  <a:pt x="0" y="4376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56796" y="371475"/>
            <a:ext cx="134266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43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2 : Products in Order 11011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6796" y="971550"/>
            <a:ext cx="1227111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3078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Show all the products which purchase under 11011?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5160" y="2076450"/>
            <a:ext cx="12083695" cy="2517664"/>
          </a:xfrm>
          <a:custGeom>
            <a:avLst/>
            <a:gdLst/>
            <a:ahLst/>
            <a:cxnLst/>
            <a:rect r="r" b="b" t="t" l="l"/>
            <a:pathLst>
              <a:path h="2517664" w="12083695">
                <a:moveTo>
                  <a:pt x="0" y="0"/>
                </a:moveTo>
                <a:lnTo>
                  <a:pt x="12083696" y="0"/>
                </a:lnTo>
                <a:lnTo>
                  <a:pt x="12083696" y="2517664"/>
                </a:lnTo>
                <a:lnTo>
                  <a:pt x="0" y="2517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56" t="-6125" r="-4035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12460" y="5664877"/>
            <a:ext cx="7389096" cy="3593423"/>
            <a:chOff x="0" y="0"/>
            <a:chExt cx="9852128" cy="479123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852128" cy="4791231"/>
              <a:chOff x="0" y="0"/>
              <a:chExt cx="1383802" cy="67296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83802" cy="672963"/>
              </a:xfrm>
              <a:custGeom>
                <a:avLst/>
                <a:gdLst/>
                <a:ahLst/>
                <a:cxnLst/>
                <a:rect r="r" b="b" t="t" l="l"/>
                <a:pathLst>
                  <a:path h="672963" w="1383802">
                    <a:moveTo>
                      <a:pt x="0" y="0"/>
                    </a:moveTo>
                    <a:lnTo>
                      <a:pt x="1383802" y="0"/>
                    </a:lnTo>
                    <a:lnTo>
                      <a:pt x="1383802" y="672963"/>
                    </a:lnTo>
                    <a:lnTo>
                      <a:pt x="0" y="672963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383802" cy="71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0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322987" y="0"/>
              <a:ext cx="2059589" cy="2086140"/>
            </a:xfrm>
            <a:custGeom>
              <a:avLst/>
              <a:gdLst/>
              <a:ahLst/>
              <a:cxnLst/>
              <a:rect r="r" b="b" t="t" l="l"/>
              <a:pathLst>
                <a:path h="2086140" w="2059589">
                  <a:moveTo>
                    <a:pt x="0" y="0"/>
                  </a:moveTo>
                  <a:lnTo>
                    <a:pt x="2059589" y="0"/>
                  </a:lnTo>
                  <a:lnTo>
                    <a:pt x="2059589" y="2086140"/>
                  </a:lnTo>
                  <a:lnTo>
                    <a:pt x="0" y="2086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688974" y="451099"/>
              <a:ext cx="6667088" cy="12102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84"/>
                </a:lnSpc>
                <a:spcBef>
                  <a:spcPct val="0"/>
                </a:spcBef>
              </a:pPr>
              <a:r>
                <a:rPr lang="en-US" b="true" sz="6070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Total Amount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759222" y="2086140"/>
              <a:ext cx="6333685" cy="2384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41"/>
                </a:lnSpc>
                <a:spcBef>
                  <a:spcPct val="0"/>
                </a:spcBef>
              </a:pPr>
              <a:r>
                <a:rPr lang="en-US" sz="11867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$960.00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351062" y="2062279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356796" y="504211"/>
            <a:ext cx="134266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43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3 : Order 11011 Total Amount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5160" y="1209675"/>
            <a:ext cx="780233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3078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Show total amount of order 11011?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3410" y="124524"/>
            <a:ext cx="11418819" cy="9951775"/>
          </a:xfrm>
          <a:custGeom>
            <a:avLst/>
            <a:gdLst/>
            <a:ahLst/>
            <a:cxnLst/>
            <a:rect r="r" b="b" t="t" l="l"/>
            <a:pathLst>
              <a:path h="9951775" w="11418819">
                <a:moveTo>
                  <a:pt x="0" y="0"/>
                </a:moveTo>
                <a:lnTo>
                  <a:pt x="11418819" y="0"/>
                </a:lnTo>
                <a:lnTo>
                  <a:pt x="11418819" y="9951775"/>
                </a:lnTo>
                <a:lnTo>
                  <a:pt x="0" y="9951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842" t="-1962" r="-19981" b="-481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1180" y="8269405"/>
            <a:ext cx="5006342" cy="1668073"/>
            <a:chOff x="0" y="0"/>
            <a:chExt cx="6675123" cy="222409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75123" cy="1678815"/>
              <a:chOff x="0" y="0"/>
              <a:chExt cx="1184068" cy="29790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84068" cy="297906"/>
              </a:xfrm>
              <a:custGeom>
                <a:avLst/>
                <a:gdLst/>
                <a:ahLst/>
                <a:cxnLst/>
                <a:rect r="r" b="b" t="t" l="l"/>
                <a:pathLst>
                  <a:path h="297906" w="1184068">
                    <a:moveTo>
                      <a:pt x="1184068" y="26289"/>
                    </a:moveTo>
                    <a:lnTo>
                      <a:pt x="1184068" y="271616"/>
                    </a:lnTo>
                    <a:cubicBezTo>
                      <a:pt x="1184068" y="278589"/>
                      <a:pt x="1181299" y="285276"/>
                      <a:pt x="1176369" y="290206"/>
                    </a:cubicBezTo>
                    <a:cubicBezTo>
                      <a:pt x="1171438" y="295136"/>
                      <a:pt x="1164752" y="297906"/>
                      <a:pt x="1157779" y="297906"/>
                    </a:cubicBezTo>
                    <a:lnTo>
                      <a:pt x="26289" y="297906"/>
                    </a:lnTo>
                    <a:cubicBezTo>
                      <a:pt x="19317" y="297906"/>
                      <a:pt x="12630" y="295136"/>
                      <a:pt x="7700" y="290206"/>
                    </a:cubicBezTo>
                    <a:cubicBezTo>
                      <a:pt x="2770" y="285276"/>
                      <a:pt x="0" y="278589"/>
                      <a:pt x="0" y="271616"/>
                    </a:cubicBezTo>
                    <a:lnTo>
                      <a:pt x="0" y="26289"/>
                    </a:lnTo>
                    <a:cubicBezTo>
                      <a:pt x="0" y="19317"/>
                      <a:pt x="2770" y="12630"/>
                      <a:pt x="7700" y="7700"/>
                    </a:cubicBezTo>
                    <a:cubicBezTo>
                      <a:pt x="12630" y="2770"/>
                      <a:pt x="19317" y="0"/>
                      <a:pt x="26289" y="0"/>
                    </a:cubicBezTo>
                    <a:lnTo>
                      <a:pt x="1157779" y="0"/>
                    </a:lnTo>
                    <a:cubicBezTo>
                      <a:pt x="1164752" y="0"/>
                      <a:pt x="1171438" y="2770"/>
                      <a:pt x="1176369" y="7700"/>
                    </a:cubicBezTo>
                    <a:cubicBezTo>
                      <a:pt x="1181299" y="12630"/>
                      <a:pt x="1184068" y="19317"/>
                      <a:pt x="1184068" y="26289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84068" cy="336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43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5473409" y="438145"/>
              <a:ext cx="1052308" cy="853326"/>
            </a:xfrm>
            <a:custGeom>
              <a:avLst/>
              <a:gdLst/>
              <a:ahLst/>
              <a:cxnLst/>
              <a:rect r="r" b="b" t="t" l="l"/>
              <a:pathLst>
                <a:path h="853326" w="1052308">
                  <a:moveTo>
                    <a:pt x="0" y="0"/>
                  </a:moveTo>
                  <a:lnTo>
                    <a:pt x="1052308" y="0"/>
                  </a:lnTo>
                  <a:lnTo>
                    <a:pt x="1052308" y="853326"/>
                  </a:lnTo>
                  <a:lnTo>
                    <a:pt x="0" y="853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44282" y="257577"/>
              <a:ext cx="5436252" cy="1188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2"/>
                </a:lnSpc>
                <a:spcBef>
                  <a:spcPct val="0"/>
                </a:spcBef>
              </a:pPr>
              <a:r>
                <a:rPr lang="en-US" b="true" sz="2794">
                  <a:solidFill>
                    <a:srgbClr val="FFFFFF"/>
                  </a:solidFill>
                  <a:latin typeface="Futura 1 Ultra-Bold"/>
                  <a:ea typeface="Futura 1 Ultra-Bold"/>
                  <a:cs typeface="Futura 1 Ultra-Bold"/>
                  <a:sym typeface="Futura 1 Ultra-Bold"/>
                </a:rPr>
                <a:t>View Query Output on Next Page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264923" y="1827222"/>
              <a:ext cx="4867116" cy="39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6"/>
                </a:lnSpc>
                <a:spcBef>
                  <a:spcPct val="0"/>
                </a:spcBef>
              </a:pPr>
              <a:r>
                <a:rPr lang="en-US" b="true" sz="1830">
                  <a:solidFill>
                    <a:srgbClr val="FFFFFF"/>
                  </a:solidFill>
                  <a:latin typeface="Futura 1 Ultra-Bold"/>
                  <a:ea typeface="Futura 1 Ultra-Bold"/>
                  <a:cs typeface="Futura 1 Ultra-Bold"/>
                  <a:sym typeface="Futura 1 Ultra-Bold"/>
                </a:rPr>
                <a:t>Click to Proceed to the results.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63434" y="4724435"/>
            <a:ext cx="2986543" cy="2986543"/>
          </a:xfrm>
          <a:custGeom>
            <a:avLst/>
            <a:gdLst/>
            <a:ahLst/>
            <a:cxnLst/>
            <a:rect r="r" b="b" t="t" l="l"/>
            <a:pathLst>
              <a:path h="2986543" w="2986543">
                <a:moveTo>
                  <a:pt x="0" y="0"/>
                </a:moveTo>
                <a:lnTo>
                  <a:pt x="2986543" y="0"/>
                </a:lnTo>
                <a:lnTo>
                  <a:pt x="2986543" y="2986542"/>
                </a:lnTo>
                <a:lnTo>
                  <a:pt x="0" y="2986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862355" y="3153314"/>
            <a:ext cx="5132387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399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Show all the orders between two date,include customername &amp; employee name also? </a:t>
            </a:r>
          </a:p>
          <a:p>
            <a:pPr algn="ctr">
              <a:lnSpc>
                <a:spcPts val="227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723789"/>
            <a:ext cx="631341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6"/>
              </a:lnSpc>
              <a:spcBef>
                <a:spcPct val="0"/>
              </a:spcBef>
            </a:pPr>
            <a:r>
              <a:rPr lang="en-US" sz="47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4 : Orders Between Dates</a:t>
            </a:r>
          </a:p>
        </p:txBody>
      </p:sp>
    </p:spTree>
  </p:cSld>
  <p:clrMapOvr>
    <a:masterClrMapping/>
  </p:clrMapOvr>
  <p:transition spd="fast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9418" y="1470076"/>
            <a:ext cx="8554631" cy="8261854"/>
            <a:chOff x="0" y="0"/>
            <a:chExt cx="11406174" cy="110158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06174" cy="3820065"/>
            </a:xfrm>
            <a:custGeom>
              <a:avLst/>
              <a:gdLst/>
              <a:ahLst/>
              <a:cxnLst/>
              <a:rect r="r" b="b" t="t" l="l"/>
              <a:pathLst>
                <a:path h="3820065" w="11406174">
                  <a:moveTo>
                    <a:pt x="0" y="0"/>
                  </a:moveTo>
                  <a:lnTo>
                    <a:pt x="11406174" y="0"/>
                  </a:lnTo>
                  <a:lnTo>
                    <a:pt x="11406174" y="3820065"/>
                  </a:lnTo>
                  <a:lnTo>
                    <a:pt x="0" y="3820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3820065"/>
              <a:ext cx="11406174" cy="3486227"/>
            </a:xfrm>
            <a:custGeom>
              <a:avLst/>
              <a:gdLst/>
              <a:ahLst/>
              <a:cxnLst/>
              <a:rect r="r" b="b" t="t" l="l"/>
              <a:pathLst>
                <a:path h="3486227" w="11406174">
                  <a:moveTo>
                    <a:pt x="0" y="0"/>
                  </a:moveTo>
                  <a:lnTo>
                    <a:pt x="11406174" y="0"/>
                  </a:lnTo>
                  <a:lnTo>
                    <a:pt x="11406174" y="3486227"/>
                  </a:lnTo>
                  <a:lnTo>
                    <a:pt x="0" y="3486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82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7306292"/>
              <a:ext cx="11406174" cy="3709513"/>
            </a:xfrm>
            <a:custGeom>
              <a:avLst/>
              <a:gdLst/>
              <a:ahLst/>
              <a:cxnLst/>
              <a:rect r="r" b="b" t="t" l="l"/>
              <a:pathLst>
                <a:path h="3709513" w="11406174">
                  <a:moveTo>
                    <a:pt x="0" y="0"/>
                  </a:moveTo>
                  <a:lnTo>
                    <a:pt x="11406174" y="0"/>
                  </a:lnTo>
                  <a:lnTo>
                    <a:pt x="11406174" y="3709513"/>
                  </a:lnTo>
                  <a:lnTo>
                    <a:pt x="0" y="370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29750" y="1470076"/>
            <a:ext cx="8430319" cy="5907730"/>
            <a:chOff x="0" y="0"/>
            <a:chExt cx="11240426" cy="78769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40426" cy="3346270"/>
            </a:xfrm>
            <a:custGeom>
              <a:avLst/>
              <a:gdLst/>
              <a:ahLst/>
              <a:cxnLst/>
              <a:rect r="r" b="b" t="t" l="l"/>
              <a:pathLst>
                <a:path h="3346270" w="11240426">
                  <a:moveTo>
                    <a:pt x="0" y="0"/>
                  </a:moveTo>
                  <a:lnTo>
                    <a:pt x="11240426" y="0"/>
                  </a:lnTo>
                  <a:lnTo>
                    <a:pt x="11240426" y="3346270"/>
                  </a:lnTo>
                  <a:lnTo>
                    <a:pt x="0" y="3346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3346270"/>
              <a:ext cx="11240426" cy="3336408"/>
            </a:xfrm>
            <a:custGeom>
              <a:avLst/>
              <a:gdLst/>
              <a:ahLst/>
              <a:cxnLst/>
              <a:rect r="r" b="b" t="t" l="l"/>
              <a:pathLst>
                <a:path h="3336408" w="11240426">
                  <a:moveTo>
                    <a:pt x="0" y="0"/>
                  </a:moveTo>
                  <a:lnTo>
                    <a:pt x="11240426" y="0"/>
                  </a:lnTo>
                  <a:lnTo>
                    <a:pt x="11240426" y="3336408"/>
                  </a:lnTo>
                  <a:lnTo>
                    <a:pt x="0" y="3336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682678"/>
              <a:ext cx="11240426" cy="1194295"/>
            </a:xfrm>
            <a:custGeom>
              <a:avLst/>
              <a:gdLst/>
              <a:ahLst/>
              <a:cxnLst/>
              <a:rect r="r" b="b" t="t" l="l"/>
              <a:pathLst>
                <a:path h="1194295" w="11240426">
                  <a:moveTo>
                    <a:pt x="0" y="0"/>
                  </a:moveTo>
                  <a:lnTo>
                    <a:pt x="11240426" y="0"/>
                  </a:lnTo>
                  <a:lnTo>
                    <a:pt x="11240426" y="1194295"/>
                  </a:lnTo>
                  <a:lnTo>
                    <a:pt x="0" y="1194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09418" y="314325"/>
            <a:ext cx="1523591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3199">
                <a:solidFill>
                  <a:srgbClr val="FFFFFF"/>
                </a:solidFill>
                <a:latin typeface="Futura 1 Bold"/>
                <a:ea typeface="Futura 1 Bold"/>
                <a:cs typeface="Futura 1 Bold"/>
                <a:sym typeface="Futura 1 Bold"/>
              </a:rPr>
              <a:t>Show all the orders between two date,include customername &amp; employee name also? 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796" y="1957081"/>
            <a:ext cx="11304678" cy="4044040"/>
          </a:xfrm>
          <a:custGeom>
            <a:avLst/>
            <a:gdLst/>
            <a:ahLst/>
            <a:cxnLst/>
            <a:rect r="r" b="b" t="t" l="l"/>
            <a:pathLst>
              <a:path h="4044040" w="11304678">
                <a:moveTo>
                  <a:pt x="0" y="0"/>
                </a:moveTo>
                <a:lnTo>
                  <a:pt x="11304678" y="0"/>
                </a:lnTo>
                <a:lnTo>
                  <a:pt x="11304678" y="4044040"/>
                </a:lnTo>
                <a:lnTo>
                  <a:pt x="0" y="4044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789" t="-32614" r="-11520" b="-5048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6796" y="6253001"/>
            <a:ext cx="5429843" cy="3390524"/>
          </a:xfrm>
          <a:custGeom>
            <a:avLst/>
            <a:gdLst/>
            <a:ahLst/>
            <a:cxnLst/>
            <a:rect r="r" b="b" t="t" l="l"/>
            <a:pathLst>
              <a:path h="3390524" w="5429843">
                <a:moveTo>
                  <a:pt x="0" y="0"/>
                </a:moveTo>
                <a:lnTo>
                  <a:pt x="5429843" y="0"/>
                </a:lnTo>
                <a:lnTo>
                  <a:pt x="5429843" y="3390524"/>
                </a:lnTo>
                <a:lnTo>
                  <a:pt x="0" y="3390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86639" y="6253001"/>
            <a:ext cx="5698689" cy="3390524"/>
          </a:xfrm>
          <a:custGeom>
            <a:avLst/>
            <a:gdLst/>
            <a:ahLst/>
            <a:cxnLst/>
            <a:rect r="r" b="b" t="t" l="l"/>
            <a:pathLst>
              <a:path h="3390524" w="5698689">
                <a:moveTo>
                  <a:pt x="0" y="0"/>
                </a:moveTo>
                <a:lnTo>
                  <a:pt x="5698689" y="0"/>
                </a:lnTo>
                <a:lnTo>
                  <a:pt x="5698689" y="3390524"/>
                </a:lnTo>
                <a:lnTo>
                  <a:pt x="0" y="3390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60240" y="6253001"/>
            <a:ext cx="6757353" cy="1803195"/>
          </a:xfrm>
          <a:custGeom>
            <a:avLst/>
            <a:gdLst/>
            <a:ahLst/>
            <a:cxnLst/>
            <a:rect r="r" b="b" t="t" l="l"/>
            <a:pathLst>
              <a:path h="1803195" w="6757353">
                <a:moveTo>
                  <a:pt x="0" y="0"/>
                </a:moveTo>
                <a:lnTo>
                  <a:pt x="6757353" y="0"/>
                </a:lnTo>
                <a:lnTo>
                  <a:pt x="6757353" y="1803195"/>
                </a:lnTo>
                <a:lnTo>
                  <a:pt x="0" y="18031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5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82000" y="1585606"/>
            <a:ext cx="5645771" cy="3425386"/>
          </a:xfrm>
          <a:custGeom>
            <a:avLst/>
            <a:gdLst/>
            <a:ahLst/>
            <a:cxnLst/>
            <a:rect r="r" b="b" t="t" l="l"/>
            <a:pathLst>
              <a:path h="3425386" w="5645771">
                <a:moveTo>
                  <a:pt x="0" y="0"/>
                </a:moveTo>
                <a:lnTo>
                  <a:pt x="5645771" y="0"/>
                </a:lnTo>
                <a:lnTo>
                  <a:pt x="5645771" y="3425386"/>
                </a:lnTo>
                <a:lnTo>
                  <a:pt x="0" y="34253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56796" y="504211"/>
            <a:ext cx="134266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43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5 : Each Country Orders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75502" y="1156981"/>
            <a:ext cx="780233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Count Orders of each country?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2183" y="1729994"/>
            <a:ext cx="11764819" cy="5591201"/>
          </a:xfrm>
          <a:custGeom>
            <a:avLst/>
            <a:gdLst/>
            <a:ahLst/>
            <a:cxnLst/>
            <a:rect r="r" b="b" t="t" l="l"/>
            <a:pathLst>
              <a:path h="5591201" w="11764819">
                <a:moveTo>
                  <a:pt x="0" y="0"/>
                </a:moveTo>
                <a:lnTo>
                  <a:pt x="11764819" y="0"/>
                </a:lnTo>
                <a:lnTo>
                  <a:pt x="11764819" y="5591201"/>
                </a:lnTo>
                <a:lnTo>
                  <a:pt x="0" y="5591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29" t="-23654" r="-10924" b="-2396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39813" y="7892695"/>
            <a:ext cx="12312775" cy="1863860"/>
          </a:xfrm>
          <a:custGeom>
            <a:avLst/>
            <a:gdLst/>
            <a:ahLst/>
            <a:cxnLst/>
            <a:rect r="r" b="b" t="t" l="l"/>
            <a:pathLst>
              <a:path h="1863860" w="12312775">
                <a:moveTo>
                  <a:pt x="0" y="0"/>
                </a:moveTo>
                <a:lnTo>
                  <a:pt x="12312775" y="0"/>
                </a:lnTo>
                <a:lnTo>
                  <a:pt x="12312775" y="1863861"/>
                </a:lnTo>
                <a:lnTo>
                  <a:pt x="0" y="1863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23556" y="1729994"/>
            <a:ext cx="4994444" cy="3659566"/>
          </a:xfrm>
          <a:custGeom>
            <a:avLst/>
            <a:gdLst/>
            <a:ahLst/>
            <a:cxnLst/>
            <a:rect r="r" b="b" t="t" l="l"/>
            <a:pathLst>
              <a:path h="3659566" w="4994444">
                <a:moveTo>
                  <a:pt x="0" y="0"/>
                </a:moveTo>
                <a:lnTo>
                  <a:pt x="4994444" y="0"/>
                </a:lnTo>
                <a:lnTo>
                  <a:pt x="4994444" y="3659566"/>
                </a:lnTo>
                <a:lnTo>
                  <a:pt x="0" y="3659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56796" y="504211"/>
            <a:ext cx="134266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43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6 : Sale Max Category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104286"/>
            <a:ext cx="89114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Max category sale in whole database?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796" y="1729994"/>
            <a:ext cx="12090769" cy="5555497"/>
          </a:xfrm>
          <a:custGeom>
            <a:avLst/>
            <a:gdLst/>
            <a:ahLst/>
            <a:cxnLst/>
            <a:rect r="r" b="b" t="t" l="l"/>
            <a:pathLst>
              <a:path h="5555497" w="12090769">
                <a:moveTo>
                  <a:pt x="0" y="0"/>
                </a:moveTo>
                <a:lnTo>
                  <a:pt x="12090769" y="0"/>
                </a:lnTo>
                <a:lnTo>
                  <a:pt x="12090769" y="5555497"/>
                </a:lnTo>
                <a:lnTo>
                  <a:pt x="0" y="555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38" t="-27789" r="-11540" b="-2680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7331" y="7842304"/>
            <a:ext cx="12327309" cy="1853308"/>
          </a:xfrm>
          <a:custGeom>
            <a:avLst/>
            <a:gdLst/>
            <a:ahLst/>
            <a:cxnLst/>
            <a:rect r="r" b="b" t="t" l="l"/>
            <a:pathLst>
              <a:path h="1853308" w="12327309">
                <a:moveTo>
                  <a:pt x="0" y="0"/>
                </a:moveTo>
                <a:lnTo>
                  <a:pt x="12327309" y="0"/>
                </a:lnTo>
                <a:lnTo>
                  <a:pt x="12327309" y="1853309"/>
                </a:lnTo>
                <a:lnTo>
                  <a:pt x="0" y="1853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08672" y="1729994"/>
            <a:ext cx="4695968" cy="4414210"/>
          </a:xfrm>
          <a:custGeom>
            <a:avLst/>
            <a:gdLst/>
            <a:ahLst/>
            <a:cxnLst/>
            <a:rect r="r" b="b" t="t" l="l"/>
            <a:pathLst>
              <a:path h="4414210" w="4695968">
                <a:moveTo>
                  <a:pt x="0" y="0"/>
                </a:moveTo>
                <a:lnTo>
                  <a:pt x="4695968" y="0"/>
                </a:lnTo>
                <a:lnTo>
                  <a:pt x="4695968" y="4414211"/>
                </a:lnTo>
                <a:lnTo>
                  <a:pt x="0" y="4414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56796" y="504211"/>
            <a:ext cx="134266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43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7 : Sale Max Product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104286"/>
            <a:ext cx="89114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Max Product Sale in Whole Database?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17712"/>
            <a:ext cx="15849138" cy="3125788"/>
          </a:xfrm>
          <a:custGeom>
            <a:avLst/>
            <a:gdLst/>
            <a:ahLst/>
            <a:cxnLst/>
            <a:rect r="r" b="b" t="t" l="l"/>
            <a:pathLst>
              <a:path h="3125788" w="15849138">
                <a:moveTo>
                  <a:pt x="0" y="0"/>
                </a:moveTo>
                <a:lnTo>
                  <a:pt x="15849138" y="0"/>
                </a:lnTo>
                <a:lnTo>
                  <a:pt x="15849138" y="3125788"/>
                </a:lnTo>
                <a:lnTo>
                  <a:pt x="0" y="3125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970" t="-71351" r="-14091" b="-7124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53269" y="5644363"/>
            <a:ext cx="5424368" cy="3314891"/>
          </a:xfrm>
          <a:custGeom>
            <a:avLst/>
            <a:gdLst/>
            <a:ahLst/>
            <a:cxnLst/>
            <a:rect r="r" b="b" t="t" l="l"/>
            <a:pathLst>
              <a:path h="3314891" w="5424368">
                <a:moveTo>
                  <a:pt x="0" y="0"/>
                </a:moveTo>
                <a:lnTo>
                  <a:pt x="5424368" y="0"/>
                </a:lnTo>
                <a:lnTo>
                  <a:pt x="5424368" y="3314891"/>
                </a:lnTo>
                <a:lnTo>
                  <a:pt x="0" y="3314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6796" y="504211"/>
            <a:ext cx="134266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43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8 : Total Sales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904197" y="1303390"/>
            <a:ext cx="89114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Total Sale in whole Database?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46018" y="5494840"/>
            <a:ext cx="3947001" cy="3613937"/>
          </a:xfrm>
          <a:custGeom>
            <a:avLst/>
            <a:gdLst/>
            <a:ahLst/>
            <a:cxnLst/>
            <a:rect r="r" b="b" t="t" l="l"/>
            <a:pathLst>
              <a:path h="3613937" w="3947001">
                <a:moveTo>
                  <a:pt x="0" y="0"/>
                </a:moveTo>
                <a:lnTo>
                  <a:pt x="3947001" y="0"/>
                </a:lnTo>
                <a:lnTo>
                  <a:pt x="3947001" y="3613937"/>
                </a:lnTo>
                <a:lnTo>
                  <a:pt x="0" y="3613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796" y="1922822"/>
            <a:ext cx="14693289" cy="6033859"/>
          </a:xfrm>
          <a:custGeom>
            <a:avLst/>
            <a:gdLst/>
            <a:ahLst/>
            <a:cxnLst/>
            <a:rect r="r" b="b" t="t" l="l"/>
            <a:pathLst>
              <a:path h="6033859" w="14693289">
                <a:moveTo>
                  <a:pt x="0" y="0"/>
                </a:moveTo>
                <a:lnTo>
                  <a:pt x="14693289" y="0"/>
                </a:lnTo>
                <a:lnTo>
                  <a:pt x="14693289" y="6033859"/>
                </a:lnTo>
                <a:lnTo>
                  <a:pt x="0" y="603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21" t="-17563" r="-7486" b="-4177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4829" y="8175304"/>
            <a:ext cx="16549842" cy="1572235"/>
          </a:xfrm>
          <a:custGeom>
            <a:avLst/>
            <a:gdLst/>
            <a:ahLst/>
            <a:cxnLst/>
            <a:rect r="r" b="b" t="t" l="l"/>
            <a:pathLst>
              <a:path h="1572235" w="16549842">
                <a:moveTo>
                  <a:pt x="0" y="0"/>
                </a:moveTo>
                <a:lnTo>
                  <a:pt x="16549842" y="0"/>
                </a:lnTo>
                <a:lnTo>
                  <a:pt x="16549842" y="1572235"/>
                </a:lnTo>
                <a:lnTo>
                  <a:pt x="0" y="157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4907" y="1922822"/>
            <a:ext cx="2772001" cy="3718538"/>
          </a:xfrm>
          <a:custGeom>
            <a:avLst/>
            <a:gdLst/>
            <a:ahLst/>
            <a:cxnLst/>
            <a:rect r="r" b="b" t="t" l="l"/>
            <a:pathLst>
              <a:path h="3718538" w="2772001">
                <a:moveTo>
                  <a:pt x="0" y="0"/>
                </a:moveTo>
                <a:lnTo>
                  <a:pt x="2772001" y="0"/>
                </a:lnTo>
                <a:lnTo>
                  <a:pt x="2772001" y="3718539"/>
                </a:lnTo>
                <a:lnTo>
                  <a:pt x="0" y="371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56796" y="504211"/>
            <a:ext cx="134266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43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9 : Particuler order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926320" y="1237022"/>
            <a:ext cx="1782404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Show total amout of particuler order include productname,qtysale,price &amp; total amount?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796" y="1860451"/>
            <a:ext cx="13245580" cy="5390653"/>
          </a:xfrm>
          <a:custGeom>
            <a:avLst/>
            <a:gdLst/>
            <a:ahLst/>
            <a:cxnLst/>
            <a:rect r="r" b="b" t="t" l="l"/>
            <a:pathLst>
              <a:path h="5390653" w="13245580">
                <a:moveTo>
                  <a:pt x="0" y="0"/>
                </a:moveTo>
                <a:lnTo>
                  <a:pt x="13245580" y="0"/>
                </a:lnTo>
                <a:lnTo>
                  <a:pt x="13245580" y="5390653"/>
                </a:lnTo>
                <a:lnTo>
                  <a:pt x="0" y="5390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52" t="-17563" r="-7418" b="-4177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531028" y="8173500"/>
            <a:ext cx="5006342" cy="1668073"/>
            <a:chOff x="0" y="0"/>
            <a:chExt cx="6675123" cy="222409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75123" cy="1678815"/>
              <a:chOff x="0" y="0"/>
              <a:chExt cx="1184068" cy="29790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84068" cy="297906"/>
              </a:xfrm>
              <a:custGeom>
                <a:avLst/>
                <a:gdLst/>
                <a:ahLst/>
                <a:cxnLst/>
                <a:rect r="r" b="b" t="t" l="l"/>
                <a:pathLst>
                  <a:path h="297906" w="1184068">
                    <a:moveTo>
                      <a:pt x="1184068" y="26289"/>
                    </a:moveTo>
                    <a:lnTo>
                      <a:pt x="1184068" y="271616"/>
                    </a:lnTo>
                    <a:cubicBezTo>
                      <a:pt x="1184068" y="278589"/>
                      <a:pt x="1181299" y="285276"/>
                      <a:pt x="1176369" y="290206"/>
                    </a:cubicBezTo>
                    <a:cubicBezTo>
                      <a:pt x="1171438" y="295136"/>
                      <a:pt x="1164752" y="297906"/>
                      <a:pt x="1157779" y="297906"/>
                    </a:cubicBezTo>
                    <a:lnTo>
                      <a:pt x="26289" y="297906"/>
                    </a:lnTo>
                    <a:cubicBezTo>
                      <a:pt x="19317" y="297906"/>
                      <a:pt x="12630" y="295136"/>
                      <a:pt x="7700" y="290206"/>
                    </a:cubicBezTo>
                    <a:cubicBezTo>
                      <a:pt x="2770" y="285276"/>
                      <a:pt x="0" y="278589"/>
                      <a:pt x="0" y="271616"/>
                    </a:cubicBezTo>
                    <a:lnTo>
                      <a:pt x="0" y="26289"/>
                    </a:lnTo>
                    <a:cubicBezTo>
                      <a:pt x="0" y="19317"/>
                      <a:pt x="2770" y="12630"/>
                      <a:pt x="7700" y="7700"/>
                    </a:cubicBezTo>
                    <a:cubicBezTo>
                      <a:pt x="12630" y="2770"/>
                      <a:pt x="19317" y="0"/>
                      <a:pt x="26289" y="0"/>
                    </a:cubicBezTo>
                    <a:lnTo>
                      <a:pt x="1157779" y="0"/>
                    </a:lnTo>
                    <a:cubicBezTo>
                      <a:pt x="1164752" y="0"/>
                      <a:pt x="1171438" y="2770"/>
                      <a:pt x="1176369" y="7700"/>
                    </a:cubicBezTo>
                    <a:cubicBezTo>
                      <a:pt x="1181299" y="12630"/>
                      <a:pt x="1184068" y="19317"/>
                      <a:pt x="1184068" y="26289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84068" cy="336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43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5473409" y="438145"/>
              <a:ext cx="1052308" cy="853326"/>
            </a:xfrm>
            <a:custGeom>
              <a:avLst/>
              <a:gdLst/>
              <a:ahLst/>
              <a:cxnLst/>
              <a:rect r="r" b="b" t="t" l="l"/>
              <a:pathLst>
                <a:path h="853326" w="1052308">
                  <a:moveTo>
                    <a:pt x="0" y="0"/>
                  </a:moveTo>
                  <a:lnTo>
                    <a:pt x="1052308" y="0"/>
                  </a:lnTo>
                  <a:lnTo>
                    <a:pt x="1052308" y="853326"/>
                  </a:lnTo>
                  <a:lnTo>
                    <a:pt x="0" y="853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44282" y="257577"/>
              <a:ext cx="5436252" cy="1188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2"/>
                </a:lnSpc>
                <a:spcBef>
                  <a:spcPct val="0"/>
                </a:spcBef>
              </a:pPr>
              <a:r>
                <a:rPr lang="en-US" b="true" sz="2794">
                  <a:solidFill>
                    <a:srgbClr val="FFFFFF"/>
                  </a:solidFill>
                  <a:latin typeface="Futura 1 Ultra-Bold"/>
                  <a:ea typeface="Futura 1 Ultra-Bold"/>
                  <a:cs typeface="Futura 1 Ultra-Bold"/>
                  <a:sym typeface="Futura 1 Ultra-Bold"/>
                </a:rPr>
                <a:t>View Query Output on Next Page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264923" y="1827222"/>
              <a:ext cx="4867116" cy="39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6"/>
                </a:lnSpc>
                <a:spcBef>
                  <a:spcPct val="0"/>
                </a:spcBef>
              </a:pPr>
              <a:r>
                <a:rPr lang="en-US" b="true" sz="1830">
                  <a:solidFill>
                    <a:srgbClr val="FFFFFF"/>
                  </a:solidFill>
                  <a:latin typeface="Futura 1 Ultra-Bold"/>
                  <a:ea typeface="Futura 1 Ultra-Bold"/>
                  <a:cs typeface="Futura 1 Ultra-Bold"/>
                  <a:sym typeface="Futura 1 Ultra-Bold"/>
                </a:rPr>
                <a:t>Click to Proceed to the results.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141673" y="1676400"/>
            <a:ext cx="3547763" cy="3723797"/>
          </a:xfrm>
          <a:custGeom>
            <a:avLst/>
            <a:gdLst/>
            <a:ahLst/>
            <a:cxnLst/>
            <a:rect r="r" b="b" t="t" l="l"/>
            <a:pathLst>
              <a:path h="3723797" w="3547763">
                <a:moveTo>
                  <a:pt x="0" y="0"/>
                </a:moveTo>
                <a:lnTo>
                  <a:pt x="3547763" y="0"/>
                </a:lnTo>
                <a:lnTo>
                  <a:pt x="3547763" y="3723797"/>
                </a:lnTo>
                <a:lnTo>
                  <a:pt x="0" y="3723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356796" y="371475"/>
            <a:ext cx="134266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  <a:spcBef>
                <a:spcPct val="0"/>
              </a:spcBef>
            </a:pPr>
            <a:r>
              <a:rPr lang="en-US" sz="4355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Question 10 : Laura Orders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70782" y="971550"/>
            <a:ext cx="8199992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5"/>
              </a:lnSpc>
            </a:pPr>
            <a:r>
              <a:rPr lang="en-US" sz="2796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Show all the orders made by Laura?</a:t>
            </a:r>
          </a:p>
          <a:p>
            <a:pPr algn="ctr">
              <a:lnSpc>
                <a:spcPts val="184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3243" y="835738"/>
            <a:ext cx="8391152" cy="7261574"/>
          </a:xfrm>
          <a:custGeom>
            <a:avLst/>
            <a:gdLst/>
            <a:ahLst/>
            <a:cxnLst/>
            <a:rect r="r" b="b" t="t" l="l"/>
            <a:pathLst>
              <a:path h="7261574" w="8391152">
                <a:moveTo>
                  <a:pt x="0" y="0"/>
                </a:moveTo>
                <a:lnTo>
                  <a:pt x="8391152" y="0"/>
                </a:lnTo>
                <a:lnTo>
                  <a:pt x="8391152" y="7261574"/>
                </a:lnTo>
                <a:lnTo>
                  <a:pt x="0" y="7261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23780" y="6051923"/>
            <a:ext cx="8311372" cy="3452859"/>
          </a:xfrm>
          <a:custGeom>
            <a:avLst/>
            <a:gdLst/>
            <a:ahLst/>
            <a:cxnLst/>
            <a:rect r="r" b="b" t="t" l="l"/>
            <a:pathLst>
              <a:path h="3452859" w="8311372">
                <a:moveTo>
                  <a:pt x="0" y="0"/>
                </a:moveTo>
                <a:lnTo>
                  <a:pt x="8311372" y="0"/>
                </a:lnTo>
                <a:lnTo>
                  <a:pt x="8311372" y="3452859"/>
                </a:lnTo>
                <a:lnTo>
                  <a:pt x="0" y="345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89" r="-773" b="-258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23780" y="1657072"/>
            <a:ext cx="8311372" cy="4394851"/>
          </a:xfrm>
          <a:custGeom>
            <a:avLst/>
            <a:gdLst/>
            <a:ahLst/>
            <a:cxnLst/>
            <a:rect r="r" b="b" t="t" l="l"/>
            <a:pathLst>
              <a:path h="4394851" w="8311372">
                <a:moveTo>
                  <a:pt x="0" y="0"/>
                </a:moveTo>
                <a:lnTo>
                  <a:pt x="8311372" y="0"/>
                </a:lnTo>
                <a:lnTo>
                  <a:pt x="8311372" y="4394851"/>
                </a:lnTo>
                <a:lnTo>
                  <a:pt x="0" y="4394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75" t="-54433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3780" y="889332"/>
            <a:ext cx="8311372" cy="767740"/>
          </a:xfrm>
          <a:custGeom>
            <a:avLst/>
            <a:gdLst/>
            <a:ahLst/>
            <a:cxnLst/>
            <a:rect r="r" b="b" t="t" l="l"/>
            <a:pathLst>
              <a:path h="767740" w="8311372">
                <a:moveTo>
                  <a:pt x="0" y="0"/>
                </a:moveTo>
                <a:lnTo>
                  <a:pt x="8311372" y="0"/>
                </a:lnTo>
                <a:lnTo>
                  <a:pt x="8311372" y="767740"/>
                </a:lnTo>
                <a:lnTo>
                  <a:pt x="0" y="767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59" t="-213560" r="0" b="-71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243" y="8097312"/>
            <a:ext cx="8391152" cy="1616273"/>
          </a:xfrm>
          <a:custGeom>
            <a:avLst/>
            <a:gdLst/>
            <a:ahLst/>
            <a:cxnLst/>
            <a:rect r="r" b="b" t="t" l="l"/>
            <a:pathLst>
              <a:path h="1616273" w="8391152">
                <a:moveTo>
                  <a:pt x="0" y="0"/>
                </a:moveTo>
                <a:lnTo>
                  <a:pt x="8391152" y="0"/>
                </a:lnTo>
                <a:lnTo>
                  <a:pt x="8391152" y="1616273"/>
                </a:lnTo>
                <a:lnTo>
                  <a:pt x="0" y="16162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261960" y="130888"/>
            <a:ext cx="8199992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5"/>
              </a:lnSpc>
            </a:pPr>
            <a:r>
              <a:rPr lang="en-US" sz="2796" b="true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Show all the orders made by Laura?</a:t>
            </a:r>
          </a:p>
          <a:p>
            <a:pPr algn="ctr">
              <a:lnSpc>
                <a:spcPts val="184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u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59500" cy="10287000"/>
          </a:xfrm>
          <a:custGeom>
            <a:avLst/>
            <a:gdLst/>
            <a:ahLst/>
            <a:cxnLst/>
            <a:rect r="r" b="b" t="t" l="l"/>
            <a:pathLst>
              <a:path h="10287000" w="18859500">
                <a:moveTo>
                  <a:pt x="0" y="0"/>
                </a:moveTo>
                <a:lnTo>
                  <a:pt x="18859500" y="0"/>
                </a:lnTo>
                <a:lnTo>
                  <a:pt x="18859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76259" y="2251904"/>
            <a:ext cx="11735481" cy="232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5"/>
              </a:lnSpc>
              <a:spcBef>
                <a:spcPct val="0"/>
              </a:spcBef>
            </a:pPr>
            <a:r>
              <a:rPr lang="en-US" sz="15412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29047" y="4158562"/>
            <a:ext cx="1096825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6"/>
              </a:lnSpc>
              <a:spcBef>
                <a:spcPct val="0"/>
              </a:spcBef>
            </a:pPr>
            <a:r>
              <a:rPr lang="en-US" b="true" sz="5022">
                <a:solidFill>
                  <a:srgbClr val="FFFFFF"/>
                </a:solidFill>
                <a:latin typeface="Futura 1 Ultra-Bold"/>
                <a:ea typeface="Futura 1 Ultra-Bold"/>
                <a:cs typeface="Futura 1 Ultra-Bold"/>
                <a:sym typeface="Futura 1 Ultra-Bold"/>
              </a:rPr>
              <a:t>For your time and attention.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308451" y="5614076"/>
            <a:ext cx="12950849" cy="2946372"/>
            <a:chOff x="0" y="0"/>
            <a:chExt cx="17267798" cy="3928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3076" cy="1111133"/>
            </a:xfrm>
            <a:custGeom>
              <a:avLst/>
              <a:gdLst/>
              <a:ahLst/>
              <a:cxnLst/>
              <a:rect r="r" b="b" t="t" l="l"/>
              <a:pathLst>
                <a:path h="1111133" w="1043076">
                  <a:moveTo>
                    <a:pt x="0" y="0"/>
                  </a:moveTo>
                  <a:lnTo>
                    <a:pt x="1043076" y="0"/>
                  </a:lnTo>
                  <a:lnTo>
                    <a:pt x="1043076" y="1111133"/>
                  </a:lnTo>
                  <a:lnTo>
                    <a:pt x="0" y="111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616235"/>
              <a:ext cx="1175373" cy="1002272"/>
            </a:xfrm>
            <a:custGeom>
              <a:avLst/>
              <a:gdLst/>
              <a:ahLst/>
              <a:cxnLst/>
              <a:rect r="r" b="b" t="t" l="l"/>
              <a:pathLst>
                <a:path h="1002272" w="1175373">
                  <a:moveTo>
                    <a:pt x="0" y="0"/>
                  </a:moveTo>
                  <a:lnTo>
                    <a:pt x="1175373" y="0"/>
                  </a:lnTo>
                  <a:lnTo>
                    <a:pt x="1175373" y="1002272"/>
                  </a:lnTo>
                  <a:lnTo>
                    <a:pt x="0" y="1002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919067"/>
              <a:ext cx="1043076" cy="1009429"/>
            </a:xfrm>
            <a:custGeom>
              <a:avLst/>
              <a:gdLst/>
              <a:ahLst/>
              <a:cxnLst/>
              <a:rect r="r" b="b" t="t" l="l"/>
              <a:pathLst>
                <a:path h="1009429" w="1043076">
                  <a:moveTo>
                    <a:pt x="0" y="0"/>
                  </a:moveTo>
                  <a:lnTo>
                    <a:pt x="1043076" y="0"/>
                  </a:lnTo>
                  <a:lnTo>
                    <a:pt x="1043076" y="1009429"/>
                  </a:lnTo>
                  <a:lnTo>
                    <a:pt x="0" y="1009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276" t="-14410" r="-12870" b="-149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511706" y="420368"/>
              <a:ext cx="8558843" cy="596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62"/>
                </a:lnSpc>
                <a:spcBef>
                  <a:spcPct val="0"/>
                </a:spcBef>
              </a:pPr>
              <a:r>
                <a:rPr lang="en-US" b="true" sz="2718">
                  <a:solidFill>
                    <a:srgbClr val="FFFFFF"/>
                  </a:solidFill>
                  <a:latin typeface="Futura 1 Ultra-Bold"/>
                  <a:ea typeface="Futura 1 Ultra-Bold"/>
                  <a:cs typeface="Futura 1 Ultra-Bold"/>
                  <a:sym typeface="Futura 1 Ultra-Bold"/>
                </a:rPr>
                <a:t>dushyantprajapati2809@gmail.com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511706" y="3110219"/>
              <a:ext cx="10032559" cy="596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62"/>
                </a:lnSpc>
                <a:spcBef>
                  <a:spcPct val="0"/>
                </a:spcBef>
              </a:pPr>
              <a:r>
                <a:rPr lang="en-US" b="true" sz="2718">
                  <a:solidFill>
                    <a:srgbClr val="FFFFFF"/>
                  </a:solidFill>
                  <a:latin typeface="Futura 1 Ultra-Bold"/>
                  <a:ea typeface="Futura 1 Ultra-Bold"/>
                  <a:cs typeface="Futura 1 Ultra-Bold"/>
                  <a:sym typeface="Futura 1 Ultra-Bold"/>
                </a:rPr>
                <a:t>https://github.com/Analyst-Dushyant123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511706" y="1764019"/>
              <a:ext cx="15756092" cy="60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83"/>
                </a:lnSpc>
                <a:spcBef>
                  <a:spcPct val="0"/>
                </a:spcBef>
              </a:pPr>
              <a:r>
                <a:rPr lang="en-US" b="true" sz="2736">
                  <a:solidFill>
                    <a:srgbClr val="FFFFFF"/>
                  </a:solidFill>
                  <a:latin typeface="Futura 1 Ultra-Bold"/>
                  <a:ea typeface="Futura 1 Ultra-Bold"/>
                  <a:cs typeface="Futura 1 Ultra-Bold"/>
                  <a:sym typeface="Futura 1 Ultra-Bold"/>
                </a:rPr>
                <a:t>https://www.linkedin.com/in/dushyant-prajapati-a98a4a39a/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248890" y="9683784"/>
            <a:ext cx="637436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3"/>
              </a:lnSpc>
              <a:spcBef>
                <a:spcPct val="0"/>
              </a:spcBef>
            </a:pPr>
            <a:r>
              <a:rPr lang="en-US" sz="2136">
                <a:solidFill>
                  <a:srgbClr val="FFFFFF"/>
                </a:solidFill>
                <a:latin typeface="Futura 2"/>
                <a:ea typeface="Futura 2"/>
                <a:cs typeface="Futura 2"/>
                <a:sym typeface="Futura 2"/>
              </a:rPr>
              <a:t>Designed &amp; Developed by Dushyant Prajapati | 2026</a:t>
            </a:r>
          </a:p>
        </p:txBody>
      </p:sp>
    </p:spTree>
  </p:cSld>
  <p:clrMapOvr>
    <a:masterClrMapping/>
  </p:clrMapOvr>
  <p:transition spd="fast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DAG-QiIMBCc</dc:identifier>
  <dcterms:modified xsi:type="dcterms:W3CDTF">2011-08-01T06:04:30Z</dcterms:modified>
  <cp:revision>1</cp:revision>
  <dc:title>Red Geometric Classy Work Performance Report Presentation</dc:title>
</cp:coreProperties>
</file>